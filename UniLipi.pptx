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59152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74920" y="502920"/>
            <a:ext cx="2057400" cy="310896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SUBMITTED TO ICDAR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44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1F2933"/>
                </a:solidFill>
                <a:latin typeface="Cambria"/>
              </a:rPr>
              <a:t>UniLipi: A Unified Multi-Script OCR
for Historical Indic Manuscripts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10744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0" i="0">
                <a:solidFill>
                  <a:srgbClr val="52606D"/>
                </a:solidFill>
                <a:latin typeface="Calibri"/>
              </a:rPr>
              <a:t>A single OCR foundation model trained jointly across </a:t>
            </a:r>
            <a:r>
              <a:rPr sz="1700" b="1" i="0">
                <a:solidFill>
                  <a:srgbClr val="2563EB"/>
                </a:solidFill>
                <a:latin typeface="Calibri"/>
              </a:rPr>
              <a:t>13 Indic scripts</a:t>
            </a:r>
            <a:r>
              <a:rPr sz="1700" b="0" i="0">
                <a:solidFill>
                  <a:srgbClr val="52606D"/>
                </a:solidFill>
                <a:latin typeface="Calibr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10744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1F2933"/>
                </a:solidFill>
                <a:latin typeface="Calibri"/>
              </a:rPr>
              <a:t>Tathagata Ghosh   ·   Sai Madhusudan Gunda   ·   Simran Singh Sandral   ·   Ravi Kiran Sarvadevabhatla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10744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52606D"/>
                </a:solidFill>
                <a:latin typeface="Calibri"/>
              </a:rPr>
              <a:t>International Institute of Information Technology, Hyderabad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29587" y="3703320"/>
            <a:ext cx="201168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29587" y="3813048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4A86E8"/>
                </a:solidFill>
                <a:latin typeface="Cambria"/>
              </a:rP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29587" y="427024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52606D"/>
                </a:solidFill>
                <a:latin typeface="Calibri"/>
              </a:rPr>
              <a:t>INDIC SCRIPTS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69867" y="3703320"/>
            <a:ext cx="201168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69867" y="3813048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6AA84F"/>
                </a:solidFill>
                <a:latin typeface="Cambria"/>
              </a:rPr>
              <a:t>32.5M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69867" y="427024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52606D"/>
                </a:solidFill>
                <a:latin typeface="Calibri"/>
              </a:rPr>
              <a:t>SYNTHETIC LINES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147" y="3703320"/>
            <a:ext cx="201168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0147" y="3813048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E06666"/>
                </a:solidFill>
                <a:latin typeface="Cambria"/>
              </a:rPr>
              <a:t>6.9%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0147" y="427024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52606D"/>
                </a:solidFill>
                <a:latin typeface="Calibri"/>
              </a:rPr>
              <a:t>OVERALL CER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50427" y="3703320"/>
            <a:ext cx="201168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0427" y="3813048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8E7CC3"/>
                </a:solidFill>
                <a:latin typeface="Cambria"/>
              </a:rPr>
              <a:t>85M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0427" y="427024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52606D"/>
                </a:solidFill>
                <a:latin typeface="Calibri"/>
              </a:rPr>
              <a:t>PARAMETERS</a:t>
            </a:r>
          </a:p>
        </p:txBody>
      </p:sp>
      <p:pic>
        <p:nvPicPr>
          <p:cNvPr id="22" name="Picture 21" descr="icdar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1327" y="5450967"/>
            <a:ext cx="914400" cy="345186"/>
          </a:xfrm>
          <a:prstGeom prst="rect">
            <a:avLst/>
          </a:prstGeom>
        </p:spPr>
      </p:pic>
      <p:pic>
        <p:nvPicPr>
          <p:cNvPr id="23" name="Picture 22" descr="iiit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4367" y="5417820"/>
            <a:ext cx="822960" cy="411480"/>
          </a:xfrm>
          <a:prstGeom prst="rect">
            <a:avLst/>
          </a:prstGeom>
        </p:spPr>
      </p:pic>
      <p:pic>
        <p:nvPicPr>
          <p:cNvPr id="24" name="Picture 23" descr="lekhy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5967" y="5166360"/>
            <a:ext cx="914400" cy="9144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31520" y="6355080"/>
            <a:ext cx="10744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2606D"/>
                </a:solidFill>
                <a:latin typeface="Consolas"/>
              </a:rPr>
              <a:t>tathagata.ghosh@research.iiit.ac.in   ·   sai.gunda@research.iiit.ac.in   ·   ssandral@gitam.in   ·   ravi.kiran@iiit.ac.in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50292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mbria"/>
              </a:rPr>
              <a:t>Abstract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607040" cy="502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F2933"/>
                </a:solidFill>
                <a:latin typeface="Calibri"/>
              </a:rPr>
              <a:t>Optical character recognition (OCR) for handwritten Indic manuscripts is essential for large-scale digitization and computational access to manuscript heritage. Existing approaches, however, are typically developed for one script at a time and require substantial script-specific customization — limiting scalability and practical deployment.
</a:t>
            </a:r>
            <a:r>
              <a:rPr sz="1600" b="0" i="0">
                <a:solidFill>
                  <a:srgbClr val="1F2933"/>
                </a:solidFill>
                <a:latin typeface="Calibri"/>
              </a:rPr>
              <a:t>We present </a:t>
            </a:r>
            <a:r>
              <a:rPr sz="1600" b="1" i="0">
                <a:solidFill>
                  <a:srgbClr val="2563EB"/>
                </a:solidFill>
                <a:latin typeface="Calibri"/>
              </a:rPr>
              <a:t>UniLipi</a:t>
            </a:r>
            <a:r>
              <a:rPr sz="1600" b="0" i="0">
                <a:solidFill>
                  <a:srgbClr val="1F2933"/>
                </a:solidFill>
                <a:latin typeface="Calibri"/>
              </a:rPr>
              <a:t>, a unified multi-script OCR model for handwritten Indic manuscripts trained jointly across </a:t>
            </a:r>
            <a:r>
              <a:rPr sz="1600" b="1" i="0">
                <a:solidFill>
                  <a:srgbClr val="1F2933"/>
                </a:solidFill>
                <a:latin typeface="Calibri"/>
              </a:rPr>
              <a:t>13 Indic scripts</a:t>
            </a:r>
            <a:r>
              <a:rPr sz="1600" b="0" i="0">
                <a:solidFill>
                  <a:srgbClr val="1F2933"/>
                </a:solidFill>
                <a:latin typeface="Calibri"/>
              </a:rPr>
              <a:t> within a single framework. UniLipi directly handles realistic manuscript conditions: extreme variation in line geometry, large variation in line length, and partial interruptions from holes, stains, or pictorial illustrations. To operate effectively under ultra low-resource conditions, the model leverages </a:t>
            </a:r>
            <a:r>
              <a:rPr sz="1600" b="1" i="0">
                <a:solidFill>
                  <a:srgbClr val="1F2933"/>
                </a:solidFill>
                <a:latin typeface="Calibri"/>
              </a:rPr>
              <a:t>script-aware synthetic manuscript data generation</a:t>
            </a:r>
            <a:r>
              <a:rPr sz="1600" b="0" i="0">
                <a:solidFill>
                  <a:srgbClr val="1F2933"/>
                </a:solidFill>
                <a:latin typeface="Calibri"/>
              </a:rPr>
              <a:t>, substantially reducing reliance on real annotated data.
</a:t>
            </a:r>
            <a:r>
              <a:rPr sz="1600" b="0" i="0">
                <a:solidFill>
                  <a:srgbClr val="1F2933"/>
                </a:solidFill>
                <a:latin typeface="Calibri"/>
              </a:rPr>
              <a:t>Beyond historical manuscripts, UniLipi serves as an effective foundational pretrained model — its learned representations enable strong OCR performance for contemporary Indic handwriting and extend to several non-Indic scripts including </a:t>
            </a:r>
            <a:r>
              <a:rPr sz="1600" b="1" i="0">
                <a:solidFill>
                  <a:srgbClr val="2563EB"/>
                </a:solidFill>
                <a:latin typeface="Calibri"/>
              </a:rPr>
              <a:t>Tibetan, Italian, Latin, and Chinese</a:t>
            </a:r>
            <a:r>
              <a:rPr sz="1600" b="0" i="0">
                <a:solidFill>
                  <a:srgbClr val="1F2933"/>
                </a:solidFill>
                <a:latin typeface="Calibri"/>
              </a:rPr>
              <a:t>. In addition to transcription, UniLipi predicts </a:t>
            </a:r>
            <a:r>
              <a:rPr sz="1600" b="1" i="0">
                <a:solidFill>
                  <a:srgbClr val="1F2933"/>
                </a:solidFill>
                <a:latin typeface="Calibri"/>
              </a:rPr>
              <a:t>script identity</a:t>
            </a:r>
            <a:r>
              <a:rPr sz="1600" b="0" i="0">
                <a:solidFill>
                  <a:srgbClr val="1F2933"/>
                </a:solidFill>
                <a:latin typeface="Calibri"/>
              </a:rPr>
              <a:t> and </a:t>
            </a:r>
            <a:r>
              <a:rPr sz="1600" b="1" i="0">
                <a:solidFill>
                  <a:srgbClr val="1F2933"/>
                </a:solidFill>
                <a:latin typeface="Calibri"/>
              </a:rPr>
              <a:t>per-line native character counts</a:t>
            </a:r>
            <a:r>
              <a:rPr sz="1600" b="0" i="0">
                <a:solidFill>
                  <a:srgbClr val="1F2933"/>
                </a:solidFill>
                <a:latin typeface="Calibri"/>
              </a:rPr>
              <a:t>, supporting practical manuscript cataloging workflows.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2606D"/>
                </a:solidFill>
                <a:latin typeface="Calibri"/>
              </a:rPr>
              <a:t>UniLipi  ·  ICDAR 2026 Submission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2606D"/>
                </a:solidFill>
                <a:latin typeface="Calibri"/>
              </a:rPr>
              <a:t>Abstract   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50292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mbria"/>
              </a:rPr>
              <a:t>Diversity of Indic Manuscripts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40233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933"/>
                </a:solidFill>
                <a:latin typeface="Calibri"/>
              </a:rPr>
              <a:t>Indic manuscripts span centuries, regions, and writing substrates. UniLipi targets </a:t>
            </a:r>
            <a:r>
              <a:rPr sz="1400" b="1" i="0">
                <a:solidFill>
                  <a:srgbClr val="1F2933"/>
                </a:solidFill>
                <a:latin typeface="Calibri"/>
              </a:rPr>
              <a:t>13 scripts</a:t>
            </a:r>
            <a:r>
              <a:rPr sz="1400" b="0" i="0">
                <a:solidFill>
                  <a:srgbClr val="1F2933"/>
                </a:solidFill>
                <a:latin typeface="Calibri"/>
              </a:rPr>
              <a:t> drawn from five regional traditions: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2350008"/>
            <a:ext cx="146304" cy="146304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8600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A86E8"/>
                </a:solidFill>
                <a:latin typeface="Calibri"/>
              </a:rPr>
              <a:t>North / Central Indian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542032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2606D"/>
                </a:solidFill>
                <a:latin typeface="Calibri"/>
              </a:rPr>
              <a:t>Devanagari · Sharada · Modi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916936"/>
            <a:ext cx="146304" cy="146304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852928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AA84F"/>
                </a:solidFill>
                <a:latin typeface="Calibri"/>
              </a:rPr>
              <a:t>Western Indian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10896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2606D"/>
                </a:solidFill>
                <a:latin typeface="Calibri"/>
              </a:rPr>
              <a:t>Gurmukhi · Jaini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483864"/>
            <a:ext cx="146304" cy="146304"/>
          </a:xfrm>
          <a:prstGeom prst="ellipse">
            <a:avLst/>
          </a:prstGeom>
          <a:solidFill>
            <a:srgbClr val="F6B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419856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6B26B"/>
                </a:solidFill>
                <a:latin typeface="Calibri"/>
              </a:rPr>
              <a:t>Eastern Indian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675888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2606D"/>
                </a:solidFill>
                <a:latin typeface="Calibri"/>
              </a:rPr>
              <a:t>Bengali · Odia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050792"/>
            <a:ext cx="146304" cy="146304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986784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06666"/>
                </a:solidFill>
                <a:latin typeface="Calibri"/>
              </a:rPr>
              <a:t>Southern Indian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242816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2606D"/>
                </a:solidFill>
                <a:latin typeface="Calibri"/>
              </a:rPr>
              <a:t>Grantha · Telugu · Malayalam · Kannada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4617720"/>
            <a:ext cx="146304" cy="146304"/>
          </a:xfrm>
          <a:prstGeom prst="ellipse">
            <a:avLst/>
          </a:prstGeom>
          <a:solidFill>
            <a:srgbClr val="8E7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553712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8E7CC3"/>
                </a:solidFill>
                <a:latin typeface="Calibri"/>
              </a:rPr>
              <a:t>Himalayan / Buddhist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809744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2606D"/>
                </a:solidFill>
                <a:latin typeface="Calibri"/>
              </a:rPr>
              <a:t>Newar · Siddham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67528" y="1601610"/>
            <a:ext cx="6547104" cy="383765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real-da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674762"/>
            <a:ext cx="6400800" cy="369135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120640" y="594360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52606D"/>
                </a:solidFill>
                <a:latin typeface="Calibri"/>
              </a:rPr>
              <a:t>Manuscript lines exhibit substantial diversity in substrate (palm leaf, paper), layout geometry, stroke thickness, ink, and orthographic structure.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2606D"/>
                </a:solidFill>
                <a:latin typeface="Calibri"/>
              </a:rPr>
              <a:t>UniLipi  ·  ICDAR 2026 Submission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644652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2606D"/>
                </a:solidFill>
                <a:latin typeface="Calibri"/>
              </a:rPr>
              <a:t>Diversity   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502920"/>
          </a:xfrm>
          <a:prstGeom prst="rect">
            <a:avLst/>
          </a:prstGeom>
          <a:solidFill>
            <a:srgbClr val="8E7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mbria"/>
              </a:rPr>
              <a:t>Contributions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1060704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325880"/>
            <a:ext cx="137160" cy="13716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463040"/>
            <a:ext cx="10149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4A86E8"/>
                </a:solidFill>
                <a:latin typeface="Cambria"/>
              </a:rPr>
              <a:t>UniLipi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920240"/>
            <a:ext cx="10149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933"/>
                </a:solidFill>
                <a:latin typeface="Calibri"/>
              </a:rPr>
              <a:t>The first unified foundational multi-script OCR model for handwritten Indic scripts, trained jointly across 13 distinct Indic scripts within a single framework.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926080"/>
            <a:ext cx="1060704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926080"/>
            <a:ext cx="137160" cy="13716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063240"/>
            <a:ext cx="10149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6AA84F"/>
                </a:solidFill>
                <a:latin typeface="Cambria"/>
              </a:rPr>
              <a:t>Script-aware Synthetic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520440"/>
            <a:ext cx="10149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933"/>
                </a:solidFill>
                <a:latin typeface="Calibri"/>
              </a:rPr>
              <a:t>A reference-conditioned synthetic manuscript generation approach that reduces reliance on large volumes of real annotated handwritten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526280"/>
            <a:ext cx="1060704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4526280"/>
            <a:ext cx="137160" cy="1371600"/>
          </a:xfrm>
          <a:prstGeom prst="rect">
            <a:avLst/>
          </a:prstGeom>
          <a:solidFill>
            <a:srgbClr val="8E7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10149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8E7CC3"/>
                </a:solidFill>
                <a:latin typeface="Cambria"/>
              </a:rPr>
              <a:t>Auxiliary Supervision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120640"/>
            <a:ext cx="10149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933"/>
                </a:solidFill>
                <a:latin typeface="Calibri"/>
              </a:rPr>
              <a:t>An OCR system that, in addition to transcription, predicts script identity and per-line glyph count — useful for downstream cataloging workflows.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2606D"/>
                </a:solidFill>
                <a:latin typeface="Calibri"/>
              </a:rPr>
              <a:t>UniLipi  ·  ICDAR 2026 Submission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44652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2606D"/>
                </a:solidFill>
                <a:latin typeface="Calibri"/>
              </a:rPr>
              <a:t>Contributions   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50292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mbria"/>
              </a:rPr>
              <a:t>Method — UniLipi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F2933"/>
                </a:solidFill>
                <a:latin typeface="Calibri"/>
              </a:rPr>
              <a:t>UniLipi is a unified multi-task OCR model. Given a manuscript line image, it jointly predicts a text sequence in the unified </a:t>
            </a:r>
            <a:r>
              <a:rPr sz="1300" b="1" i="0">
                <a:solidFill>
                  <a:srgbClr val="2563EB"/>
                </a:solidFill>
                <a:latin typeface="Consolas"/>
              </a:rPr>
              <a:t>Roman WX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 representation, a </a:t>
            </a:r>
            <a:r>
              <a:rPr sz="1300" b="1" i="0">
                <a:solidFill>
                  <a:srgbClr val="1F2933"/>
                </a:solidFill>
                <a:latin typeface="Calibri"/>
              </a:rPr>
              <a:t>script identity label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, and a per-line </a:t>
            </a:r>
            <a:r>
              <a:rPr sz="1300" b="1" i="0">
                <a:solidFill>
                  <a:srgbClr val="1F2933"/>
                </a:solidFill>
                <a:latin typeface="Calibri"/>
              </a:rPr>
              <a:t>glyph count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39642" y="1984248"/>
            <a:ext cx="5350315" cy="42611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od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2794" y="2057400"/>
            <a:ext cx="5204011" cy="4114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863840" y="2103120"/>
            <a:ext cx="393192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22402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2933"/>
                </a:solidFill>
                <a:latin typeface="Cambria"/>
              </a:rPr>
              <a:t>Joint training 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69748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563EB"/>
                </a:solidFill>
                <a:latin typeface="Consolas"/>
              </a:rPr>
              <a:t>L = L_OCR  +  λ_script · L_script
        +  λ_count · L_count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3657600"/>
            <a:ext cx="36576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2933"/>
                </a:solidFill>
                <a:latin typeface="Calibri"/>
              </a:rPr>
              <a:t>Multi-task supervision encourages the encoder to learn richer representations that capture textual content, script identity, and structural length information together — improving transcription accuracy across diverse manuscripts.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2606D"/>
                </a:solidFill>
                <a:latin typeface="Calibri"/>
              </a:rPr>
              <a:t>UniLipi  ·  ICDAR 2026 Submission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4652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2606D"/>
                </a:solidFill>
                <a:latin typeface="Calibri"/>
              </a:rPr>
              <a:t>Method   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502920"/>
          </a:xfrm>
          <a:prstGeom prst="rect">
            <a:avLst/>
          </a:prstGeom>
          <a:solidFill>
            <a:srgbClr val="E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mbria"/>
              </a:rPr>
              <a:t>Reference-Conditioned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F2933"/>
                </a:solidFill>
                <a:latin typeface="Calibri"/>
              </a:rPr>
              <a:t>Real annotated manuscript lines are extremely scarce for many Indic scripts. We synthesize training data by lifting </a:t>
            </a:r>
            <a:r>
              <a:rPr sz="1300" b="1" i="0">
                <a:solidFill>
                  <a:srgbClr val="1F2933"/>
                </a:solidFill>
                <a:latin typeface="Calibri"/>
              </a:rPr>
              <a:t>appearance and geometric priors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 from real reference manuscripts — yielding ~</a:t>
            </a:r>
            <a:r>
              <a:rPr sz="1300" b="1" i="0">
                <a:solidFill>
                  <a:srgbClr val="2563EB"/>
                </a:solidFill>
                <a:latin typeface="Calibri"/>
              </a:rPr>
              <a:t>2.5M synthetic lines per script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 and </a:t>
            </a:r>
            <a:r>
              <a:rPr sz="1300" b="1" i="0">
                <a:solidFill>
                  <a:srgbClr val="2563EB"/>
                </a:solidFill>
                <a:latin typeface="Calibri"/>
              </a:rPr>
              <a:t>32.5M total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 across 13 scripts.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7997" y="1938528"/>
            <a:ext cx="6415699" cy="41696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ynthet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1149" y="2011680"/>
            <a:ext cx="6269395" cy="4023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14019" y="6080760"/>
            <a:ext cx="2651760" cy="5943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4A8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7171" y="619048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4A8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7171" y="619048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6939" y="6080760"/>
            <a:ext cx="21031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933"/>
                </a:solidFill>
                <a:latin typeface="Calibri"/>
              </a:rPr>
              <a:t>Sample Roman WX line and transliterate to target script.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4651" y="6080760"/>
            <a:ext cx="2651760" cy="5943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6AA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57803" y="619048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6A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7803" y="619048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7571" y="6080760"/>
            <a:ext cx="21031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933"/>
                </a:solidFill>
                <a:latin typeface="Calibri"/>
              </a:rPr>
              <a:t>Extract writing mask, font size, ink color from a reference.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5283" y="6080760"/>
            <a:ext cx="2651760" cy="5943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8E7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28435" y="619048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8E7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28435" y="619048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8203" y="6080760"/>
            <a:ext cx="21031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933"/>
                </a:solidFill>
                <a:latin typeface="Calibri"/>
              </a:rPr>
              <a:t>Composite rendered text onto diffusion-inpainted background.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5915" y="6080760"/>
            <a:ext cx="2651760" cy="5943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F6B2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999067" y="619048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99067" y="619048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28835" y="6080760"/>
            <a:ext cx="21031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933"/>
                </a:solidFill>
                <a:latin typeface="Calibri"/>
              </a:rPr>
              <a:t>Output line + WX text + script label + glyph-count.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2606D"/>
                </a:solidFill>
                <a:latin typeface="Calibri"/>
              </a:rPr>
              <a:t>UniLipi  ·  ICDAR 2026 Submission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644652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2606D"/>
                </a:solidFill>
                <a:latin typeface="Calibri"/>
              </a:rPr>
              <a:t>Synthetic   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50292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mbria"/>
              </a:rPr>
              <a:t>Results — Overall Scores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80160"/>
            <a:ext cx="5029200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46304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2933"/>
                </a:solidFill>
                <a:latin typeface="Cambria"/>
              </a:rPr>
              <a:t>UniLipi (weighted across 13 scripts)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57400"/>
            <a:ext cx="4480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2563EB"/>
                </a:solidFill>
                <a:latin typeface="Cambria"/>
              </a:rPr>
              <a:t>6.9%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971800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2606D"/>
                </a:solidFill>
                <a:latin typeface="Calibri"/>
              </a:rPr>
              <a:t>CER  ↓   OCR transcription error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429000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E06666"/>
                </a:solidFill>
                <a:latin typeface="Cambria"/>
              </a:rPr>
              <a:t>8.6%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97764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2606D"/>
                </a:solidFill>
                <a:latin typeface="Calibri"/>
              </a:rPr>
              <a:t>Mono CER  ↓   per-script monolingual 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389120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6AA84F"/>
                </a:solidFill>
                <a:latin typeface="Cambria"/>
              </a:rPr>
              <a:t>1.1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93776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2606D"/>
                </a:solidFill>
                <a:latin typeface="Calibri"/>
              </a:rPr>
              <a:t>Count-MAE  ↓   per-line glyph count error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440680"/>
            <a:ext cx="4480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1F2933"/>
                </a:solidFill>
                <a:latin typeface="Calibri"/>
              </a:rPr>
              <a:t>Unified multi-script training outperforms dedicated per-script models.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28016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2933"/>
                </a:solidFill>
                <a:latin typeface="Cambria"/>
              </a:rPr>
              <a:t>Ablation Study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645920"/>
            <a:ext cx="5760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2606D"/>
                </a:solidFill>
                <a:latin typeface="Calibri"/>
              </a:rPr>
              <a:t>Single-component swaps vs. final UniLipi design.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2057400"/>
            <a:ext cx="576072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2057400"/>
            <a:ext cx="224028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F2933"/>
                </a:solidFill>
                <a:latin typeface="Calibri"/>
              </a:rPr>
              <a:t>Modified Component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057400"/>
            <a:ext cx="16002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F2933"/>
                </a:solidFill>
                <a:latin typeface="Calibri"/>
              </a:rPr>
              <a:t>Default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2057400"/>
            <a:ext cx="6858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1F2933"/>
                </a:solidFill>
                <a:latin typeface="Calibri"/>
              </a:rPr>
              <a:t>CER 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2057400"/>
            <a:ext cx="6858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1F2933"/>
                </a:solidFill>
                <a:latin typeface="Calibri"/>
              </a:rPr>
              <a:t>MAE 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2359152"/>
            <a:ext cx="5760720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2359152"/>
            <a:ext cx="224028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IAST as vocab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2359152"/>
            <a:ext cx="16002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Roman WX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2359152"/>
            <a:ext cx="6858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1F2933"/>
                </a:solidFill>
                <a:latin typeface="Calibri"/>
              </a:rPr>
              <a:t>11.0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2359152"/>
            <a:ext cx="6858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1F2933"/>
                </a:solidFill>
                <a:latin typeface="Calibri"/>
              </a:rPr>
              <a:t>1.7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2660904"/>
            <a:ext cx="5760720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2660904"/>
            <a:ext cx="224028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Dedicated vocab / script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2660904"/>
            <a:ext cx="16002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Roman WX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2660904"/>
            <a:ext cx="6858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1F2933"/>
                </a:solidFill>
                <a:latin typeface="Calibri"/>
              </a:rPr>
              <a:t>14.1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2660904"/>
            <a:ext cx="6858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1F2933"/>
                </a:solidFill>
                <a:latin typeface="Calibri"/>
              </a:rPr>
              <a:t>1.9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2962656"/>
            <a:ext cx="5760720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0" y="2962656"/>
            <a:ext cx="224028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No script token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2962656"/>
            <a:ext cx="16002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Auxiliary tokens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2962656"/>
            <a:ext cx="6858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1F2933"/>
                </a:solidFill>
                <a:latin typeface="Calibri"/>
              </a:rPr>
              <a:t>7.1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64240" y="2962656"/>
            <a:ext cx="6858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1F2933"/>
                </a:solidFill>
                <a:latin typeface="Calibri"/>
              </a:rPr>
              <a:t>1.3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3264408"/>
            <a:ext cx="5760720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0" y="3264408"/>
            <a:ext cx="224028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No count token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3264408"/>
            <a:ext cx="16002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Auxiliary tokens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3264408"/>
            <a:ext cx="6858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1F2933"/>
                </a:solidFill>
                <a:latin typeface="Calibri"/>
              </a:rPr>
              <a:t>9.3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3264408"/>
            <a:ext cx="6858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1F2933"/>
                </a:solidFill>
                <a:latin typeface="Calibri"/>
              </a:rPr>
              <a:t>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35040" y="3566160"/>
            <a:ext cx="5760720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26480" y="3566160"/>
            <a:ext cx="224028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No script &amp; count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0" y="3566160"/>
            <a:ext cx="16002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Auxiliary tokens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0" y="3566160"/>
            <a:ext cx="6858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1F2933"/>
                </a:solidFill>
                <a:latin typeface="Calibri"/>
              </a:rPr>
              <a:t>9.7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64240" y="3566160"/>
            <a:ext cx="6858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1F2933"/>
                </a:solidFill>
                <a:latin typeface="Calibri"/>
              </a:rPr>
              <a:t>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3867912"/>
            <a:ext cx="5760720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26480" y="3867912"/>
            <a:ext cx="224028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Encoder — 4 layers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03920" y="3867912"/>
            <a:ext cx="16002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6 layers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41280" y="3867912"/>
            <a:ext cx="6858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1F2933"/>
                </a:solidFill>
                <a:latin typeface="Calibri"/>
              </a:rPr>
              <a:t>9.3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64240" y="3867912"/>
            <a:ext cx="6858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1F2933"/>
                </a:solidFill>
                <a:latin typeface="Calibri"/>
              </a:rPr>
              <a:t>1.5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35040" y="4169664"/>
            <a:ext cx="5760720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26480" y="4169664"/>
            <a:ext cx="224028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Encoder — 8 layers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03920" y="4169664"/>
            <a:ext cx="16002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6 layers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41280" y="4169664"/>
            <a:ext cx="6858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1F2933"/>
                </a:solidFill>
                <a:latin typeface="Calibri"/>
              </a:rPr>
              <a:t>8.1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064240" y="4169664"/>
            <a:ext cx="6858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1F2933"/>
                </a:solidFill>
                <a:latin typeface="Calibri"/>
              </a:rPr>
              <a:t>1.3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35040" y="4471416"/>
            <a:ext cx="5760720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26480" y="4471416"/>
            <a:ext cx="224028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Cross-Entropy loss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03920" y="4471416"/>
            <a:ext cx="16002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CTC loss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41280" y="4471416"/>
            <a:ext cx="6858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1F2933"/>
                </a:solidFill>
                <a:latin typeface="Calibri"/>
              </a:rPr>
              <a:t>8.3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064240" y="4471416"/>
            <a:ext cx="6858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1F2933"/>
                </a:solidFill>
                <a:latin typeface="Calibri"/>
              </a:rPr>
              <a:t>1.4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35040" y="4773168"/>
            <a:ext cx="5760720" cy="301752"/>
          </a:xfrm>
          <a:prstGeom prst="rect">
            <a:avLst/>
          </a:prstGeom>
          <a:solidFill>
            <a:srgbClr val="E0F2FE"/>
          </a:solidFill>
          <a:ln w="9525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26480" y="4773168"/>
            <a:ext cx="224028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C4A6E"/>
                </a:solidFill>
                <a:latin typeface="Calibri"/>
              </a:rPr>
              <a:t>UniLipi (Final)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03920" y="4773168"/>
            <a:ext cx="16002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C4A6E"/>
                </a:solidFill>
                <a:latin typeface="Calibri"/>
              </a:rPr>
              <a:t>Default design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241280" y="4773168"/>
            <a:ext cx="6858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0C4A6E"/>
                </a:solidFill>
                <a:latin typeface="Calibri"/>
              </a:rPr>
              <a:t>6.9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064240" y="4773168"/>
            <a:ext cx="6858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0C4A6E"/>
                </a:solidFill>
                <a:latin typeface="Calibri"/>
              </a:rPr>
              <a:t>1.1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2606D"/>
                </a:solidFill>
                <a:latin typeface="Calibri"/>
              </a:rPr>
              <a:t>UniLipi  ·  ICDAR 2026 Submission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601200" y="644652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2606D"/>
                </a:solidFill>
                <a:latin typeface="Calibri"/>
              </a:rPr>
              <a:t>Results   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50292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mbria"/>
              </a:rPr>
              <a:t>Qualitative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05020" y="1389887"/>
            <a:ext cx="5581653" cy="47183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esul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8172" y="1463039"/>
            <a:ext cx="5435349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264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1F2933"/>
                </a:solidFill>
                <a:latin typeface="Calibri"/>
              </a:rPr>
              <a:t>UniLipi transcription on a representative script from each region.  </a:t>
            </a:r>
            <a:r>
              <a:rPr sz="1200" b="1" i="0">
                <a:solidFill>
                  <a:srgbClr val="E06666"/>
                </a:solidFill>
                <a:latin typeface="Calibri"/>
              </a:rPr>
              <a:t>Red</a:t>
            </a:r>
            <a:r>
              <a:rPr sz="1200" b="0" i="1">
                <a:solidFill>
                  <a:srgbClr val="1F2933"/>
                </a:solidFill>
                <a:latin typeface="Calibri"/>
              </a:rPr>
              <a:t> = deletions   ·   </a:t>
            </a:r>
            <a:r>
              <a:rPr sz="1200" b="1" i="0">
                <a:solidFill>
                  <a:srgbClr val="2563EB"/>
                </a:solidFill>
                <a:latin typeface="Calibri"/>
              </a:rPr>
              <a:t>Blue</a:t>
            </a:r>
            <a:r>
              <a:rPr sz="1200" b="0" i="1">
                <a:solidFill>
                  <a:srgbClr val="1F2933"/>
                </a:solidFill>
                <a:latin typeface="Calibri"/>
              </a:rPr>
              <a:t> = substitutions / additions.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2606D"/>
                </a:solidFill>
                <a:latin typeface="Calibri"/>
              </a:rPr>
              <a:t>UniLipi  ·  ICDAR 2026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2606D"/>
                </a:solidFill>
                <a:latin typeface="Calibri"/>
              </a:rPr>
              <a:t>Qualitative   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502920"/>
          </a:xfrm>
          <a:prstGeom prst="rect">
            <a:avLst/>
          </a:prstGeom>
          <a:solidFill>
            <a:srgbClr val="8E7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mbria"/>
              </a:rPr>
              <a:t>Count-Token Attention Heatmap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3244652"/>
            <a:ext cx="7004304" cy="155741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eatm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317804"/>
            <a:ext cx="6858000" cy="141111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79" y="1325880"/>
            <a:ext cx="3840480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9" y="150876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2933"/>
                </a:solidFill>
                <a:latin typeface="Cambria"/>
              </a:rPr>
              <a:t>What does the count token learn?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9" y="2057400"/>
            <a:ext cx="347472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2933"/>
                </a:solidFill>
                <a:latin typeface="Calibri"/>
              </a:rPr>
              <a:t>The count token's attention map localizes glyph-level structure along the line. This serves as:
•  auxiliary supervision during training, giving the encoder a structural prior;
•  a lightweight quality-control cue at inference — large gaps between predicted token count and visual glyph count flag likely OCR errors.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2606D"/>
                </a:solidFill>
                <a:latin typeface="Calibri"/>
              </a:rPr>
              <a:t>UniLipi  ·  ICDAR 2026 Submission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4652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2606D"/>
                </a:solidFill>
                <a:latin typeface="Calibri"/>
              </a:rPr>
              <a:t>Heatmap   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67712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0" b="1" i="0">
                <a:solidFill>
                  <a:srgbClr val="1F2933"/>
                </a:solidFill>
                <a:latin typeface="Cambria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1">
                <a:solidFill>
                  <a:srgbClr val="52606D"/>
                </a:solidFill>
                <a:latin typeface="Calibri"/>
              </a:rPr>
              <a:t>Questions and early-access requests are welcome.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2926080"/>
            <a:ext cx="758952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651760" y="320040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000" b="1">
                <a:solidFill>
                  <a:srgbClr val="2563EB"/>
                </a:solidFill>
                <a:latin typeface="Calibri"/>
              </a:rPr>
              <a:t>CONTACT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361188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2563EB"/>
                </a:solidFill>
                <a:latin typeface="Consolas"/>
              </a:rPr>
              <a:t>sai.gunda@research.iiit.ac.in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411480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2606D"/>
                </a:solidFill>
                <a:latin typeface="Calibri"/>
              </a:rPr>
              <a:t>Project page  ·  unilipi (coming soon)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443484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2606D"/>
                </a:solidFill>
                <a:latin typeface="Consolas"/>
              </a:rPr>
              <a:t>Code  ·  github.com/lekhya-ai/UniLipi</a:t>
            </a:r>
          </a:p>
        </p:txBody>
      </p:sp>
      <p:pic>
        <p:nvPicPr>
          <p:cNvPr id="12" name="Picture 11" descr="icdar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4207" y="5728316"/>
            <a:ext cx="777240" cy="293408"/>
          </a:xfrm>
          <a:prstGeom prst="rect">
            <a:avLst/>
          </a:prstGeom>
        </p:spPr>
      </p:pic>
      <p:pic>
        <p:nvPicPr>
          <p:cNvPr id="13" name="Picture 12" descr="iiit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0087" y="5692140"/>
            <a:ext cx="731520" cy="365760"/>
          </a:xfrm>
          <a:prstGeom prst="rect">
            <a:avLst/>
          </a:prstGeom>
        </p:spPr>
      </p:pic>
      <p:pic>
        <p:nvPicPr>
          <p:cNvPr id="14" name="Picture 13" descr="lekhy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247" y="5486400"/>
            <a:ext cx="777240" cy="7772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